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</p:sldIdLst>
  <p:sldSz cx="43649900" cy="32397700"/>
  <p:notesSz cx="5143500" cy="9144000"/>
  <p:embeddedFontLst>
    <p:embeddedFont>
      <p:font typeface="SourceHanSansSC-Heavy" panose="020B0A00000000000000" charset="-122"/>
      <p:bold r:id="rId7"/>
    </p:embeddedFont>
    <p:embeddedFont>
      <p:font typeface="SourceHanSerifSC-SemiBold" panose="02020600000000000000" charset="-122"/>
      <p:bold r:id="rId8"/>
    </p:embeddedFont>
    <p:embeddedFont>
      <p:font typeface="SourceHanSerifSC-Bold" panose="02020700000000000000" charset="-122"/>
      <p:bold r:id="rId9"/>
    </p:embeddedFont>
    <p:embeddedFont>
      <p:font typeface="SourceHanSansSC-Regular" panose="020B0500000000000000" charset="-122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23" d="100"/>
          <a:sy n="23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" b="-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1" name="image 101"/>
          <p:cNvPicPr>
            <a:picLocks noChangeAspect="1"/>
          </p:cNvPicPr>
          <p:nvPr/>
        </p:nvPicPr>
        <p:blipFill>
          <a:blip r:embed="rId1"/>
          <a:srcRect t="9" b="9"/>
          <a:stretch>
            <a:fillRect/>
          </a:stretch>
        </p:blipFill>
        <p:spPr>
          <a:xfrm>
            <a:off x="0" y="0"/>
            <a:ext cx="43649900" cy="32397700"/>
          </a:xfrm>
          <a:prstGeom prst="rect">
            <a:avLst/>
          </a:prstGeom>
        </p:spPr>
      </p:pic>
      <p:grpSp>
        <p:nvGrpSpPr>
          <p:cNvPr id="102" name="组合 102"/>
          <p:cNvGrpSpPr/>
          <p:nvPr/>
        </p:nvGrpSpPr>
        <p:grpSpPr>
          <a:xfrm>
            <a:off x="821925" y="777265"/>
            <a:ext cx="42006049" cy="30843169"/>
            <a:chOff x="821925" y="777265"/>
            <a:chExt cx="42006049" cy="30843169"/>
          </a:xfrm>
        </p:grpSpPr>
        <p:pic>
          <p:nvPicPr>
            <p:cNvPr id="9103" name="image 1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21925" y="777265"/>
              <a:ext cx="42006049" cy="30843169"/>
            </a:xfrm>
            <a:prstGeom prst="rect">
              <a:avLst/>
            </a:prstGeom>
          </p:spPr>
        </p:pic>
        <p:pic>
          <p:nvPicPr>
            <p:cNvPr id="9104" name="image 10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515542" y="1536152"/>
              <a:ext cx="40771624" cy="29334332"/>
            </a:xfrm>
            <a:prstGeom prst="rect">
              <a:avLst/>
            </a:prstGeom>
          </p:spPr>
        </p:pic>
        <p:pic>
          <p:nvPicPr>
            <p:cNvPr id="9105" name="image 10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39045052" y="2184258"/>
              <a:ext cx="2552700" cy="2552700"/>
            </a:xfrm>
            <a:prstGeom prst="rect">
              <a:avLst/>
            </a:prstGeom>
          </p:spPr>
        </p:pic>
        <p:pic>
          <p:nvPicPr>
            <p:cNvPr id="9106" name="image 106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024552" y="2095358"/>
              <a:ext cx="2552700" cy="2552700"/>
            </a:xfrm>
            <a:prstGeom prst="rect">
              <a:avLst/>
            </a:prstGeom>
          </p:spPr>
        </p:pic>
        <p:pic>
          <p:nvPicPr>
            <p:cNvPr id="9107" name="image 107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138852" y="27749358"/>
              <a:ext cx="2552700" cy="2552700"/>
            </a:xfrm>
            <a:prstGeom prst="rect">
              <a:avLst/>
            </a:prstGeom>
          </p:spPr>
        </p:pic>
        <p:pic>
          <p:nvPicPr>
            <p:cNvPr id="9108" name="image 108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39108552" y="27749358"/>
              <a:ext cx="2552700" cy="2552700"/>
            </a:xfrm>
            <a:prstGeom prst="rect">
              <a:avLst/>
            </a:prstGeom>
          </p:spPr>
        </p:pic>
      </p:grpSp>
      <p:grpSp>
        <p:nvGrpSpPr>
          <p:cNvPr id="109" name="组合 109"/>
          <p:cNvGrpSpPr/>
          <p:nvPr/>
        </p:nvGrpSpPr>
        <p:grpSpPr>
          <a:xfrm>
            <a:off x="19494500" y="-1943100"/>
            <a:ext cx="4648200" cy="8521700"/>
            <a:chOff x="19494500" y="-1943100"/>
            <a:chExt cx="4648200" cy="8521700"/>
          </a:xfrm>
        </p:grpSpPr>
        <p:pic>
          <p:nvPicPr>
            <p:cNvPr id="91010" name="image 1010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9494500" y="-1943100"/>
              <a:ext cx="4648200" cy="8521700"/>
            </a:xfrm>
            <a:prstGeom prst="rect">
              <a:avLst/>
            </a:prstGeom>
          </p:spPr>
        </p:pic>
        <p:sp>
          <p:nvSpPr>
            <p:cNvPr id="1011" name="Object 1011"/>
            <p:cNvSpPr txBox="1"/>
            <p:nvPr/>
          </p:nvSpPr>
          <p:spPr>
            <a:xfrm>
              <a:off x="21342348" y="3039369"/>
              <a:ext cx="1172210" cy="21971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14280" b="0" i="0" spc="400" dirty="0">
                  <a:blipFill>
                    <a:blip r:embed="rId9"/>
                    <a:stretch>
                      <a:fillRect/>
                    </a:stretch>
                  </a:blipFill>
                  <a:latin typeface="SourceHanSansSC-Heavy" panose="020B0A00000000000000" charset="-122"/>
                  <a:ea typeface="SourceHanSansSC-Heavy" panose="020B0A00000000000000" charset="-122"/>
                </a:rPr>
                <a:t>1</a:t>
              </a:r>
              <a:endParaRPr lang="zh-CN" altLang="en-US" sz="14280"/>
            </a:p>
          </p:txBody>
        </p:sp>
      </p:grpSp>
      <p:pic>
        <p:nvPicPr>
          <p:cNvPr id="91012" name="image 101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40830" y="14752955"/>
            <a:ext cx="8559165" cy="125095"/>
          </a:xfrm>
          <a:prstGeom prst="rect">
            <a:avLst/>
          </a:prstGeom>
        </p:spPr>
      </p:pic>
      <p:grpSp>
        <p:nvGrpSpPr>
          <p:cNvPr id="1013" name="组合 1013"/>
          <p:cNvGrpSpPr/>
          <p:nvPr/>
        </p:nvGrpSpPr>
        <p:grpSpPr>
          <a:xfrm>
            <a:off x="7519338" y="7042150"/>
            <a:ext cx="32589287" cy="22252586"/>
            <a:chOff x="7519338" y="7042150"/>
            <a:chExt cx="32589287" cy="22252586"/>
          </a:xfrm>
        </p:grpSpPr>
        <p:grpSp>
          <p:nvGrpSpPr>
            <p:cNvPr id="1014" name="组合 1014"/>
            <p:cNvGrpSpPr/>
            <p:nvPr/>
          </p:nvGrpSpPr>
          <p:grpSpPr>
            <a:xfrm>
              <a:off x="16299173" y="11074400"/>
              <a:ext cx="11051552" cy="2565400"/>
              <a:chOff x="16299173" y="11074400"/>
              <a:chExt cx="11051552" cy="2565400"/>
            </a:xfrm>
          </p:grpSpPr>
          <p:sp>
            <p:nvSpPr>
              <p:cNvPr id="1015" name="Object 1015"/>
              <p:cNvSpPr txBox="1"/>
              <p:nvPr/>
            </p:nvSpPr>
            <p:spPr>
              <a:xfrm>
                <a:off x="16299173" y="11893550"/>
                <a:ext cx="11061700" cy="939800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sz="6080" b="0" i="0" dirty="0">
                    <a:solidFill>
                      <a:srgbClr val="C29D41"/>
                    </a:solidFill>
                    <a:latin typeface="SourceHanSerifSC-SemiBold" panose="02020600000000000000" charset="-122"/>
                    <a:ea typeface="SourceHanSerifSC-SemiBold" panose="02020600000000000000" charset="-122"/>
                  </a:rPr>
                  <a:t>CERTIFICATE OF HONOR</a:t>
                </a:r>
                <a:endParaRPr lang="zh-CN" altLang="en-US" sz="6080"/>
              </a:p>
            </p:txBody>
          </p:sp>
          <p:grpSp>
            <p:nvGrpSpPr>
              <p:cNvPr id="1016" name="组合 1016"/>
              <p:cNvGrpSpPr/>
              <p:nvPr/>
            </p:nvGrpSpPr>
            <p:grpSpPr>
              <a:xfrm>
                <a:off x="16672382" y="12954000"/>
                <a:ext cx="10093901" cy="685800"/>
                <a:chOff x="16672382" y="12954000"/>
                <a:chExt cx="10093901" cy="685800"/>
              </a:xfrm>
            </p:grpSpPr>
            <p:pic>
              <p:nvPicPr>
                <p:cNvPr id="91017" name="image 1017"/>
                <p:cNvPicPr>
                  <a:picLocks noChangeAspect="1"/>
                </p:cNvPicPr>
                <p:nvPr/>
              </p:nvPicPr>
              <p:blipFill>
                <a:blip r:embed="rId11"/>
                <a:srcRect/>
                <a:stretch>
                  <a:fillRect/>
                </a:stretch>
              </p:blipFill>
              <p:spPr>
                <a:xfrm>
                  <a:off x="20193000" y="12954000"/>
                  <a:ext cx="3035300" cy="685800"/>
                </a:xfrm>
                <a:prstGeom prst="rect">
                  <a:avLst/>
                </a:prstGeom>
              </p:spPr>
            </p:pic>
            <p:pic>
              <p:nvPicPr>
                <p:cNvPr id="91018" name="image 1018"/>
                <p:cNvPicPr>
                  <a:picLocks noChangeAspect="1"/>
                </p:cNvPicPr>
                <p:nvPr/>
              </p:nvPicPr>
              <p:blipFill>
                <a:blip r:embed="rId12"/>
                <a:srcRect/>
                <a:stretch>
                  <a:fillRect/>
                </a:stretch>
              </p:blipFill>
              <p:spPr>
                <a:xfrm>
                  <a:off x="23470920" y="13035151"/>
                  <a:ext cx="3295362" cy="29686"/>
                </a:xfrm>
                <a:prstGeom prst="rect">
                  <a:avLst/>
                </a:prstGeom>
              </p:spPr>
            </p:pic>
            <p:pic>
              <p:nvPicPr>
                <p:cNvPr id="91019" name="image 1019"/>
                <p:cNvPicPr>
                  <a:picLocks noChangeAspect="1"/>
                </p:cNvPicPr>
                <p:nvPr/>
              </p:nvPicPr>
              <p:blipFill>
                <a:blip r:embed="rId12"/>
                <a:srcRect/>
                <a:stretch>
                  <a:fillRect/>
                </a:stretch>
              </p:blipFill>
              <p:spPr>
                <a:xfrm>
                  <a:off x="16672382" y="13035151"/>
                  <a:ext cx="3295362" cy="29686"/>
                </a:xfrm>
                <a:prstGeom prst="rect">
                  <a:avLst/>
                </a:prstGeom>
              </p:spPr>
            </p:pic>
          </p:grpSp>
          <p:grpSp>
            <p:nvGrpSpPr>
              <p:cNvPr id="1020" name="组合 1020"/>
              <p:cNvGrpSpPr/>
              <p:nvPr/>
            </p:nvGrpSpPr>
            <p:grpSpPr>
              <a:xfrm>
                <a:off x="16672382" y="11074400"/>
                <a:ext cx="10093901" cy="685800"/>
                <a:chOff x="16672382" y="11074400"/>
                <a:chExt cx="10093901" cy="685800"/>
              </a:xfrm>
            </p:grpSpPr>
            <p:pic>
              <p:nvPicPr>
                <p:cNvPr id="91021" name="image 1021"/>
                <p:cNvPicPr>
                  <a:picLocks noChangeAspect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>
                <a:xfrm>
                  <a:off x="20193000" y="11074400"/>
                  <a:ext cx="3035300" cy="685800"/>
                </a:xfrm>
                <a:prstGeom prst="rect">
                  <a:avLst/>
                </a:prstGeom>
              </p:spPr>
            </p:pic>
            <p:pic>
              <p:nvPicPr>
                <p:cNvPr id="91022" name="image 1022"/>
                <p:cNvPicPr>
                  <a:picLocks noChangeAspect="1"/>
                </p:cNvPicPr>
                <p:nvPr/>
              </p:nvPicPr>
              <p:blipFill>
                <a:blip r:embed="rId12"/>
                <a:srcRect/>
                <a:stretch>
                  <a:fillRect/>
                </a:stretch>
              </p:blipFill>
              <p:spPr>
                <a:xfrm>
                  <a:off x="23470920" y="11624974"/>
                  <a:ext cx="3295362" cy="29688"/>
                </a:xfrm>
                <a:prstGeom prst="rect">
                  <a:avLst/>
                </a:prstGeom>
              </p:spPr>
            </p:pic>
            <p:pic>
              <p:nvPicPr>
                <p:cNvPr id="91023" name="image 1023"/>
                <p:cNvPicPr>
                  <a:picLocks noChangeAspect="1"/>
                </p:cNvPicPr>
                <p:nvPr/>
              </p:nvPicPr>
              <p:blipFill>
                <a:blip r:embed="rId12"/>
                <a:srcRect/>
                <a:stretch>
                  <a:fillRect/>
                </a:stretch>
              </p:blipFill>
              <p:spPr>
                <a:xfrm>
                  <a:off x="16672382" y="11624974"/>
                  <a:ext cx="3295362" cy="29688"/>
                </a:xfrm>
                <a:prstGeom prst="rect">
                  <a:avLst/>
                </a:prstGeom>
              </p:spPr>
            </p:pic>
          </p:grpSp>
        </p:grpSp>
        <p:sp>
          <p:nvSpPr>
            <p:cNvPr id="1024" name="Object 1024"/>
            <p:cNvSpPr txBox="1"/>
            <p:nvPr/>
          </p:nvSpPr>
          <p:spPr>
            <a:xfrm>
              <a:off x="14829031" y="7042150"/>
              <a:ext cx="14084427" cy="358140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23380" b="0" i="0" spc="700" dirty="0">
                  <a:solidFill>
                    <a:srgbClr val="C29D41"/>
                  </a:solidFill>
                  <a:latin typeface="SourceHanSerifSC-Bold" panose="02020700000000000000" charset="-122"/>
                  <a:ea typeface="SourceHanSerifSC-Bold" panose="02020700000000000000" charset="-122"/>
                </a:rPr>
                <a:t>荣誉证书</a:t>
              </a:r>
              <a:endParaRPr lang="zh-CN" altLang="en-US" sz="23380"/>
            </a:p>
          </p:txBody>
        </p:sp>
        <p:sp>
          <p:nvSpPr>
            <p:cNvPr id="1026" name="Object 1026"/>
            <p:cNvSpPr txBox="1"/>
            <p:nvPr/>
          </p:nvSpPr>
          <p:spPr>
            <a:xfrm>
              <a:off x="15200123" y="22446615"/>
              <a:ext cx="12893675" cy="319214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8860" b="0" i="0" spc="500" dirty="0">
                  <a:solidFill>
                    <a:srgbClr val="C29D41"/>
                  </a:solidFill>
                  <a:latin typeface="SourceHanSerifSC-Bold" panose="02020700000000000000" charset="-122"/>
                  <a:ea typeface="SourceHanSerifSC-Bold" panose="02020700000000000000" charset="-122"/>
                </a:rPr>
                <a:t>“</a:t>
              </a:r>
              <a:r>
                <a:rPr lang="zh-CN" sz="18860" b="0" i="0" spc="500" dirty="0">
                  <a:solidFill>
                    <a:srgbClr val="C29D41"/>
                  </a:solidFill>
                  <a:latin typeface="SourceHanSerifSC-Bold" panose="02020700000000000000" charset="-122"/>
                  <a:ea typeface="SourceHanSerifSC-Bold" panose="02020700000000000000" charset="-122"/>
                </a:rPr>
                <a:t>优秀学员</a:t>
              </a:r>
              <a:r>
                <a:rPr lang="en-US" altLang="zh-CN" sz="18860" b="0" i="0" spc="500" dirty="0">
                  <a:solidFill>
                    <a:srgbClr val="C29D41"/>
                  </a:solidFill>
                  <a:latin typeface="SourceHanSerifSC-Bold" panose="02020700000000000000" charset="-122"/>
                  <a:ea typeface="SourceHanSerifSC-Bold" panose="02020700000000000000" charset="-122"/>
                </a:rPr>
                <a:t>”</a:t>
              </a:r>
              <a:endParaRPr lang="en-US" altLang="zh-CN" sz="18860" b="0" i="0" spc="500" dirty="0">
                <a:solidFill>
                  <a:srgbClr val="C29D41"/>
                </a:solidFill>
                <a:latin typeface="SourceHanSerifSC-Bold" panose="02020700000000000000" charset="-122"/>
                <a:ea typeface="SourceHanSerifSC-Bold" panose="02020700000000000000" charset="-122"/>
              </a:endParaRPr>
            </a:p>
          </p:txBody>
        </p:sp>
        <p:sp>
          <p:nvSpPr>
            <p:cNvPr id="1027" name="Object 1027"/>
            <p:cNvSpPr txBox="1"/>
            <p:nvPr/>
          </p:nvSpPr>
          <p:spPr>
            <a:xfrm>
              <a:off x="7519338" y="11583822"/>
              <a:ext cx="7309693" cy="2962029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9000">
                  <a:solidFill>
                    <a:srgbClr val="C29D41"/>
                  </a:solidFill>
                  <a:latin typeface="SourceHanSerifSC-Bold" panose="02020700000000000000" charset="-122"/>
                  <a:ea typeface="SourceHanSerifSC-Bold" panose="02020700000000000000" charset="-122"/>
                </a:rPr>
                <a:t>学生：</a:t>
              </a:r>
              <a:endParaRPr lang="zh-CN" altLang="en-US" sz="19000" b="0" i="0" dirty="0">
                <a:solidFill>
                  <a:srgbClr val="C29D41"/>
                </a:solidFill>
                <a:latin typeface="SourceHanSerifSC-Bold" panose="02020700000000000000" charset="-122"/>
                <a:ea typeface="SourceHanSerifSC-Bold" panose="02020700000000000000" charset="-122"/>
              </a:endParaRPr>
            </a:p>
          </p:txBody>
        </p:sp>
        <p:sp>
          <p:nvSpPr>
            <p:cNvPr id="1028" name="Object 1028"/>
            <p:cNvSpPr txBox="1"/>
            <p:nvPr/>
          </p:nvSpPr>
          <p:spPr>
            <a:xfrm>
              <a:off x="7783958" y="16256000"/>
              <a:ext cx="31260415" cy="48126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just">
                <a:lnSpc>
                  <a:spcPct val="136000"/>
                </a:lnSpc>
              </a:pPr>
              <a:r>
                <a:rPr lang="zh-CN" sz="11500" b="0" i="0" spc="20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         在</a:t>
              </a:r>
              <a:r>
                <a:rPr lang="en-US" altLang="zh-CN" sz="11500" b="1" i="0" spc="20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AIC++</a:t>
              </a:r>
              <a:r>
                <a:rPr lang="zh-CN" altLang="en-US" sz="11500" b="1" i="0" spc="20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科特信奥班第一次月考</a:t>
              </a:r>
              <a:r>
                <a:rPr lang="zh-CN" altLang="en-US" sz="11500" b="0" i="0" spc="20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中，</a:t>
              </a:r>
              <a:r>
                <a:rPr lang="zh-CN" sz="11500" b="0" i="0" spc="20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以优异的成绩完成考试，被评为</a:t>
              </a:r>
              <a:endParaRPr lang="zh-CN" altLang="en-US" sz="11500" b="0" i="0" spc="200" dirty="0">
                <a:solidFill>
                  <a:srgbClr val="000000"/>
                </a:solidFill>
                <a:latin typeface="SourceHanSansSC-Regular" panose="020B0500000000000000" charset="-122"/>
                <a:ea typeface="SourceHanSansSC-Regular" panose="020B0500000000000000" charset="-122"/>
              </a:endParaRPr>
            </a:p>
          </p:txBody>
        </p:sp>
        <p:sp>
          <p:nvSpPr>
            <p:cNvPr id="1029" name="Object 1029"/>
            <p:cNvSpPr txBox="1"/>
            <p:nvPr/>
          </p:nvSpPr>
          <p:spPr>
            <a:xfrm>
              <a:off x="30431225" y="26030201"/>
              <a:ext cx="9677400" cy="326453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8000"/>
                </a:lnSpc>
              </a:pPr>
              <a:r>
                <a:rPr 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特发此证 以资鼓励</a:t>
              </a:r>
              <a:endParaRPr lang="zh-CN" altLang="en-US" sz="8290" dirty="0"/>
            </a:p>
            <a:p>
              <a:pPr algn="r">
                <a:lnSpc>
                  <a:spcPct val="128000"/>
                </a:lnSpc>
              </a:pPr>
              <a:r>
                <a:rPr 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202</a:t>
              </a:r>
              <a:r>
                <a:rPr lang="en-US" alt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6</a:t>
              </a:r>
              <a:r>
                <a:rPr 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年</a:t>
              </a:r>
              <a:r>
                <a:rPr lang="en-US" alt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8</a:t>
              </a:r>
              <a:r>
                <a:rPr 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月</a:t>
              </a:r>
              <a:r>
                <a:rPr lang="en-US" alt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28</a:t>
              </a:r>
              <a:r>
                <a:rPr lang="zh-CN" sz="8290" b="0" i="0" dirty="0">
                  <a:solidFill>
                    <a:srgbClr val="000000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日</a:t>
              </a:r>
              <a:endParaRPr lang="zh-CN" altLang="en-US" sz="829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WPS 演示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SourceHanSansSC-Heavy</vt:lpstr>
      <vt:lpstr>SourceHanSerifSC-SemiBold</vt:lpstr>
      <vt:lpstr>SourceHanSerifSC-Bold</vt:lpstr>
      <vt:lpstr>SourceHanSansSC-Regular</vt:lpstr>
      <vt:lpstr>微软雅黑</vt:lpstr>
      <vt:lpstr>Arial Unicode MS</vt:lpstr>
      <vt:lpstr>Calibri</vt:lpstr>
      <vt:lpstr>等线</vt:lpstr>
      <vt:lpstr>Office Theme</vt:lpstr>
      <vt:lpstr>PowerPoint 演示文稿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某C</cp:lastModifiedBy>
  <cp:revision>8</cp:revision>
  <dcterms:created xsi:type="dcterms:W3CDTF">2026-03-28T09:17:00Z</dcterms:created>
  <dcterms:modified xsi:type="dcterms:W3CDTF">2026-08-28T09:27:51Z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FA06333756194A4BA31DABDDEFA5E501_12</vt:lpwstr>
  </property>
</Properties>
</file>